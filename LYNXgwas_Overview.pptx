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E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84831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408103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438912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LYNXgwas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1" y="11704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9E9DE"/>
                </a:solidFill>
                <a:latin typeface="Calibri"/>
              </a:rPr>
              <a:t>Locus analYsis and geNomic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57276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4F4EF"/>
                </a:solidFill>
                <a:latin typeface="Calibri"/>
              </a:rPr>
              <a:t>A local-first, multi-project GWAS analysis &amp; visualization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4F46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LYNXgwas takes raw GWAS summary statistics and turns them into an interactive, browser-based explorer — identifying risk loci, recovering rsIDs, computing LD against a reference panel, and rendering per-locus Manhattan plots, gene tracks, and LD triangles — all from a single Java application, with no cloud dependency and no data leaving the machine.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4F46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245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4439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6344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4F46"/>
                </a:solidFill>
                <a:latin typeface="Calibri"/>
              </a:rPr>
              <a:t>Reproducible &amp; self-contained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29200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one tool covers loci calling, rsID recovery, LD, and figures — no juggling separate scripts or pipelines across a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245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98848" y="44439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466344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4F46"/>
                </a:solidFill>
                <a:latin typeface="Calibri"/>
              </a:rPr>
              <a:t>Privacy-preserving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5029200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runs entirely offline/local-first; sensitive summary statistics never have to leave the analyst's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24528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44439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663440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4F46"/>
                </a:solidFill>
                <a:latin typeface="Calibri"/>
              </a:rPr>
              <a:t>Built for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5029200"/>
            <a:ext cx="320954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manages many GWAS projects side-by-side (populations, meta-analyses, models) from one home page, with staleness tracking so nothing goes out of date silently.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  <a:latin typeface="Calibri"/>
              </a:rPr>
              <a:t>Slide 1 of 3  — 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615" y="6473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475569"/>
                </a:solidFill>
                <a:latin typeface="Calibri"/>
              </a:rPr>
              <a:t>lynxgwas.local  |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One home page, every GWAS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C9E9DE"/>
                </a:solidFill>
                <a:latin typeface="Calibri"/>
              </a:rPr>
              <a:t>Multi-project management,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2420" y="1196340"/>
            <a:ext cx="7711440" cy="515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34440"/>
            <a:ext cx="763524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3429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Project table  </a:t>
            </a:r>
            <a:r>
              <a:rPr sz="1250" b="0">
                <a:solidFill>
                  <a:srgbClr val="1F2937"/>
                </a:solidFill>
                <a:latin typeface="Calibri"/>
              </a:rPr>
              <a:t>name, loci count, SNP count, annotation sources, processing status and rsID recovery — all in one sortable view.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Guided wizard  </a:t>
            </a:r>
            <a:r>
              <a:rPr sz="1250" b="0">
                <a:solidFill>
                  <a:srgbClr val="1F2937"/>
                </a:solidFill>
                <a:latin typeface="Calibri"/>
              </a:rPr>
              <a:t>step-by-step project creation: file selection, column mapping with auto-detection, and parameter setup.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Get Loci  </a:t>
            </a:r>
            <a:r>
              <a:rPr sz="1250" b="0">
                <a:solidFill>
                  <a:srgbClr val="1F2937"/>
                </a:solidFill>
                <a:latin typeface="Calibri"/>
              </a:rPr>
              <a:t>one click runs PLINK LD-based clumping against a reference panel to identify genomic risk loci.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Add rsIDs  </a:t>
            </a:r>
            <a:r>
              <a:rPr sz="1250" b="0">
                <a:solidFill>
                  <a:srgbClr val="1F2937"/>
                </a:solidFill>
                <a:latin typeface="Calibri"/>
              </a:rPr>
              <a:t>local dbSNP lookup (~99.8%) with optional NCBI + gnomAD API completion (~99.9%) for the rest.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Staleness detection  </a:t>
            </a:r>
            <a:r>
              <a:rPr sz="1250" b="0">
                <a:solidFill>
                  <a:srgbClr val="1F2937"/>
                </a:solidFill>
                <a:latin typeface="Calibri"/>
              </a:rPr>
              <a:t>flags any project whose inputs changed since last processed, so results never silently drift.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›  </a:t>
            </a:r>
            <a:r>
              <a:rPr sz="1250" b="1">
                <a:solidFill>
                  <a:srgbClr val="1F2937"/>
                </a:solidFill>
                <a:latin typeface="Calibri"/>
              </a:rPr>
              <a:t>Shared resources  </a:t>
            </a:r>
            <a:r>
              <a:rPr sz="1250" b="0">
                <a:solidFill>
                  <a:srgbClr val="1F2937"/>
                </a:solidFill>
                <a:latin typeface="Calibri"/>
              </a:rPr>
              <a:t>reference panels and SNP databases are configured once and reused across every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  <a:latin typeface="Calibri"/>
              </a:rPr>
              <a:t>Slide 2 of 3  —  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473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475569"/>
                </a:solidFill>
                <a:latin typeface="Calibri"/>
              </a:rPr>
              <a:t>lynxgwas.local  |  MIT License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locus viewer: from Manhattan plot to LD block, in one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9B4E0"/>
                </a:solidFill>
                <a:latin typeface="Calibri"/>
              </a:rPr>
              <a:t>Genome-wide skyline · regional association plot · gene track · LD triangle — synchronized and interactive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1013460"/>
            <a:ext cx="752856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us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452360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00" b="1">
                <a:solidFill>
                  <a:srgbClr val="6D5BD6"/>
                </a:solidFill>
                <a:latin typeface="Calibri"/>
              </a:rPr>
              <a:t>›  </a:t>
            </a:r>
            <a:r>
              <a:rPr sz="1200" b="1">
                <a:solidFill>
                  <a:srgbClr val="E9E7F7"/>
                </a:solidFill>
                <a:latin typeface="Calibri"/>
              </a:rPr>
              <a:t>Built-in plots  </a:t>
            </a:r>
            <a:r>
              <a:rPr sz="1200" b="0">
                <a:solidFill>
                  <a:srgbClr val="E9E7F7"/>
                </a:solidFill>
                <a:latin typeface="Calibri"/>
              </a:rPr>
              <a:t>genome-wide Manhattan skyline, zoomable regional association plot, gene structure track, and LD r² triangle, all synced to the selected locus.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00" b="1">
                <a:solidFill>
                  <a:srgbClr val="6D5BD6"/>
                </a:solidFill>
                <a:latin typeface="Calibri"/>
              </a:rPr>
              <a:t>›  </a:t>
            </a:r>
            <a:r>
              <a:rPr sz="1200" b="1">
                <a:solidFill>
                  <a:srgbClr val="E9E7F7"/>
                </a:solidFill>
                <a:latin typeface="Calibri"/>
              </a:rPr>
              <a:t>Fast navigation  </a:t>
            </a:r>
            <a:r>
              <a:rPr sz="1200" b="0">
                <a:solidFill>
                  <a:srgbClr val="E9E7F7"/>
                </a:solidFill>
                <a:latin typeface="Calibri"/>
              </a:rPr>
              <a:t>search by locus, gene, or rsID; step through loci with the keyboard; resize or split locus boundaries live.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00" b="1">
                <a:solidFill>
                  <a:srgbClr val="6D5BD6"/>
                </a:solidFill>
                <a:latin typeface="Calibri"/>
              </a:rPr>
              <a:t>›  </a:t>
            </a:r>
            <a:r>
              <a:rPr sz="1200" b="1">
                <a:solidFill>
                  <a:srgbClr val="E9E7F7"/>
                </a:solidFill>
                <a:latin typeface="Calibri"/>
              </a:rPr>
              <a:t>Annotation overlays  </a:t>
            </a:r>
            <a:r>
              <a:rPr sz="1200" b="0">
                <a:solidFill>
                  <a:srgbClr val="E9E7F7"/>
                </a:solidFill>
                <a:latin typeface="Calibri"/>
              </a:rPr>
              <a:t>layer fine-mapping PIP, colocalization PP.H4, or conditional-signal tracks directly on the plot.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00" b="1">
                <a:solidFill>
                  <a:srgbClr val="6D5BD6"/>
                </a:solidFill>
                <a:latin typeface="Calibri"/>
              </a:rPr>
              <a:t>›  </a:t>
            </a:r>
            <a:r>
              <a:rPr sz="1200" b="1">
                <a:solidFill>
                  <a:srgbClr val="E9E7F7"/>
                </a:solidFill>
                <a:latin typeface="Calibri"/>
              </a:rPr>
              <a:t>Export-ready  </a:t>
            </a:r>
            <a:r>
              <a:rPr sz="1200" b="0">
                <a:solidFill>
                  <a:srgbClr val="E9E7F7"/>
                </a:solidFill>
                <a:latin typeface="Calibri"/>
              </a:rPr>
              <a:t>one click produces a publication-quality PDF (1x–4x resolution) or an Excel workbook of the locus data.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00" b="1">
                <a:solidFill>
                  <a:srgbClr val="6D5BD6"/>
                </a:solidFill>
                <a:latin typeface="Calibri"/>
              </a:rPr>
              <a:t>›  </a:t>
            </a:r>
            <a:r>
              <a:rPr sz="1200" b="1">
                <a:solidFill>
                  <a:srgbClr val="E9E7F7"/>
                </a:solidFill>
                <a:latin typeface="Calibri"/>
              </a:rPr>
              <a:t>Why it matters  </a:t>
            </a:r>
            <a:r>
              <a:rPr sz="1200" b="0">
                <a:solidFill>
                  <a:srgbClr val="E9E7F7"/>
                </a:solidFill>
                <a:latin typeface="Calibri"/>
              </a:rPr>
              <a:t>turns a static table of SNPs and p-values into an explorable picture of each locus — faster triage of true signals and easier communication with collaborators.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C9D6D3"/>
                </a:solidFill>
                <a:latin typeface="Calibri"/>
              </a:rPr>
              <a:t>Slide 3 of 3  —  Locus Viewer &amp;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473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9D6D3"/>
                </a:solidFill>
                <a:latin typeface="Calibri"/>
              </a:rPr>
              <a:t>lynxgwas.local  |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